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0" r:id="rId8"/>
    <p:sldId id="264" r:id="rId9"/>
    <p:sldId id="261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5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071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384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235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265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98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828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499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85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87DE6118-2437-4B30-8E3C-4D2BE6020583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139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706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168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164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553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370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038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7145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69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87DE6118-2437-4B30-8E3C-4D2BE6020583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0820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9E9BA-0E35-6F12-6E07-E9785032A0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H" dirty="0"/>
              <a:t>GROUP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3F412-149C-1877-B41D-9B0C9A1624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H" dirty="0"/>
              <a:t>EXPANDING GHANA’S TAX PAYMENT SYSTEM</a:t>
            </a:r>
          </a:p>
          <a:p>
            <a:r>
              <a:rPr lang="en-GH" dirty="0"/>
              <a:t>(ARTISANS IN THE INFORMAL SECTOR)</a:t>
            </a:r>
          </a:p>
        </p:txBody>
      </p:sp>
    </p:spTree>
    <p:extLst>
      <p:ext uri="{BB962C8B-B14F-4D97-AF65-F5344CB8AC3E}">
        <p14:creationId xmlns:p14="http://schemas.microsoft.com/office/powerpoint/2010/main" val="2720834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73D41-23AB-4133-D3DA-2AD50690B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/>
              <a:t>GROUP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9F8BA-AAF9-AB83-9DFD-22FE21E19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Lawrencia</a:t>
            </a:r>
            <a:r>
              <a:rPr lang="en-US" dirty="0"/>
              <a:t> </a:t>
            </a:r>
            <a:r>
              <a:rPr lang="en-US" dirty="0" err="1"/>
              <a:t>Nortey</a:t>
            </a:r>
            <a:r>
              <a:rPr lang="en-US" dirty="0"/>
              <a:t> </a:t>
            </a:r>
          </a:p>
          <a:p>
            <a:r>
              <a:rPr lang="en-US" dirty="0"/>
              <a:t>Joel Hammond </a:t>
            </a:r>
          </a:p>
          <a:p>
            <a:r>
              <a:rPr lang="en-US" dirty="0" err="1"/>
              <a:t>Aikins</a:t>
            </a:r>
            <a:r>
              <a:rPr lang="en-US" dirty="0"/>
              <a:t> </a:t>
            </a:r>
            <a:r>
              <a:rPr lang="en-US" dirty="0" err="1"/>
              <a:t>Atsyia</a:t>
            </a:r>
            <a:r>
              <a:rPr lang="en-US" dirty="0"/>
              <a:t> Kofi </a:t>
            </a:r>
          </a:p>
          <a:p>
            <a:r>
              <a:rPr lang="en-US" dirty="0"/>
              <a:t>Jacob </a:t>
            </a:r>
            <a:r>
              <a:rPr lang="en-US" dirty="0" err="1"/>
              <a:t>Domi</a:t>
            </a:r>
            <a:endParaRPr lang="en-US" dirty="0"/>
          </a:p>
          <a:p>
            <a:r>
              <a:rPr lang="en-US" dirty="0"/>
              <a:t>Abdul-</a:t>
            </a:r>
            <a:r>
              <a:rPr lang="en-US" dirty="0" err="1"/>
              <a:t>Razak</a:t>
            </a:r>
            <a:r>
              <a:rPr lang="en-US" dirty="0"/>
              <a:t> </a:t>
            </a:r>
            <a:r>
              <a:rPr lang="en-US" dirty="0" err="1"/>
              <a:t>Parvin</a:t>
            </a:r>
            <a:r>
              <a:rPr lang="en-US" dirty="0"/>
              <a:t> Hakeem</a:t>
            </a:r>
          </a:p>
          <a:p>
            <a:r>
              <a:rPr lang="en-US" dirty="0" err="1"/>
              <a:t>Lebel</a:t>
            </a:r>
            <a:r>
              <a:rPr lang="en-US" dirty="0"/>
              <a:t> Axel </a:t>
            </a:r>
            <a:r>
              <a:rPr lang="en-US" dirty="0" err="1"/>
              <a:t>Moutete</a:t>
            </a:r>
            <a:r>
              <a:rPr lang="en-US" dirty="0"/>
              <a:t> B</a:t>
            </a:r>
            <a:r>
              <a:rPr lang="en-US" dirty="0" smtClean="0"/>
              <a:t>.</a:t>
            </a:r>
          </a:p>
          <a:p>
            <a:r>
              <a:rPr lang="en-US" dirty="0" smtClean="0"/>
              <a:t>Abdul-Hakeem</a:t>
            </a:r>
          </a:p>
          <a:p>
            <a:r>
              <a:rPr lang="en-US" dirty="0" smtClean="0"/>
              <a:t>Nana </a:t>
            </a:r>
            <a:r>
              <a:rPr lang="en-US" dirty="0" err="1" smtClean="0"/>
              <a:t>Kwasi</a:t>
            </a:r>
            <a:r>
              <a:rPr lang="en-US" dirty="0" smtClean="0"/>
              <a:t> </a:t>
            </a:r>
            <a:r>
              <a:rPr lang="en-US" smtClean="0"/>
              <a:t>Annor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917841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FDCC2-93C3-45EE-8EA1-313C183DF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2856F-5C9B-1825-D5DC-20E437D90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C08FC-70E5-0C56-8C8C-13E97C014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Ghana’s economy is largely driven by the informal sector, especially artisans such as carpenters, tailors, mechanics, and welders.</a:t>
            </a:r>
          </a:p>
          <a:p>
            <a:r>
              <a:rPr lang="en-GB" dirty="0"/>
              <a:t>A significant number of these artisans operate outside the formal tax system, making it difficult for the government to collect revenue effectively.</a:t>
            </a:r>
          </a:p>
          <a:p>
            <a:r>
              <a:rPr lang="en-GB" dirty="0"/>
              <a:t>Traditional tax collection methods are often manual, inconvenient, and inefficient, discouraging compliance.</a:t>
            </a:r>
          </a:p>
          <a:p>
            <a:r>
              <a:rPr lang="en-GB" dirty="0"/>
              <a:t>With the growth of mobile technology and mobile money, there is an opportunity to digitize and simplify tax payments.</a:t>
            </a:r>
          </a:p>
          <a:p>
            <a:r>
              <a:rPr lang="en-GB" dirty="0"/>
              <a:t>However, challenges such as low digital literacy, poor trust in systems, and limited infrastructure still exist.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991371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5DD65-D3D2-2D5D-262D-BED7DB063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01DDB-03BE-CF63-677D-36AAB4F02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/>
              <a:t>PROBLEM STATMENT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80452-591B-957C-D1A8-8482AC73C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Many artisans are not registered in the tax system.</a:t>
            </a:r>
          </a:p>
          <a:p>
            <a:r>
              <a:rPr lang="en-GB" dirty="0"/>
              <a:t>Tax payment processes are complex and time-consuming.</a:t>
            </a:r>
          </a:p>
          <a:p>
            <a:r>
              <a:rPr lang="en-GB" dirty="0"/>
              <a:t>High reliance on cash transactions, making tracking difficult.</a:t>
            </a:r>
          </a:p>
          <a:p>
            <a:r>
              <a:rPr lang="en-GB" dirty="0"/>
              <a:t>Lack of trust in government systems discourages participation.</a:t>
            </a:r>
          </a:p>
          <a:p>
            <a:r>
              <a:rPr lang="en-GB" dirty="0"/>
              <a:t>Absence of clear incentives for artisans to pay taxes.</a:t>
            </a:r>
          </a:p>
          <a:p>
            <a:r>
              <a:rPr lang="en-GB" dirty="0"/>
              <a:t>Inefficient record-keeping leads to data inaccuracies and revenue loss.</a:t>
            </a:r>
          </a:p>
          <a:p>
            <a:r>
              <a:rPr lang="en-GB" dirty="0"/>
              <a:t>Existing systems are not accessible to low-income earners.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491178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D1C69-0A3B-5001-CFEF-A9CDC2C53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A8896-32AB-97BF-FB8E-D780E50A3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/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EA02B-3526-54E8-58E8-F129F3668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176041"/>
            <a:ext cx="9905998" cy="3615159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Develop a mobile-first tax payment system tailored for artisans.</a:t>
            </a:r>
          </a:p>
          <a:p>
            <a:r>
              <a:rPr lang="en-GB" dirty="0"/>
              <a:t>Integrate USSD and mobile money platforms for easy access without internet.</a:t>
            </a:r>
          </a:p>
          <a:p>
            <a:r>
              <a:rPr lang="en-GB" dirty="0"/>
              <a:t>Create a simple registration system to assign Tax Identification Numbers (TINs).</a:t>
            </a:r>
          </a:p>
          <a:p>
            <a:r>
              <a:rPr lang="en-GB" dirty="0"/>
              <a:t>Use a centralized database to store and manage taxpayer records.</a:t>
            </a:r>
          </a:p>
          <a:p>
            <a:r>
              <a:rPr lang="en-GB" dirty="0"/>
              <a:t>Implement automated tax calculation based on income or trade category.</a:t>
            </a:r>
          </a:p>
          <a:p>
            <a:r>
              <a:rPr lang="en-GB" dirty="0"/>
              <a:t>Provide instant payment confirmation via SMS or mobile app.</a:t>
            </a:r>
          </a:p>
          <a:p>
            <a:r>
              <a:rPr lang="en-GB" dirty="0"/>
              <a:t>Introduce incentive schemes (e.g., loans, insurance, discounts) to encourage compliance.</a:t>
            </a:r>
          </a:p>
          <a:p>
            <a:r>
              <a:rPr lang="en-GB" dirty="0"/>
              <a:t>Partner with trade associations to onboard and educate artisans.</a:t>
            </a:r>
          </a:p>
          <a:p>
            <a:r>
              <a:rPr lang="en-GB" dirty="0"/>
              <a:t>Ensure the system is secure, reliable, and easy to use.</a:t>
            </a:r>
          </a:p>
          <a:p>
            <a:pPr marL="0" indent="0">
              <a:buNone/>
            </a:pP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568512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E4481-79CF-FE26-6AC0-2091808A2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7F7CE-4412-9EA3-6900-F5794D0F2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/>
              <a:t>CORE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F37F8-D1D4-DF01-D8E2-B2AA194AC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Mobile-first system</a:t>
            </a:r>
          </a:p>
          <a:p>
            <a:r>
              <a:rPr lang="en-GB" dirty="0"/>
              <a:t>USSD support (no internet needed)</a:t>
            </a:r>
          </a:p>
          <a:p>
            <a:r>
              <a:rPr lang="en-GB" dirty="0"/>
              <a:t>Mobile money integration</a:t>
            </a:r>
          </a:p>
          <a:p>
            <a:r>
              <a:rPr lang="en-GB" dirty="0"/>
              <a:t>Easy registration with TIN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93115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FB81D-03FC-36D1-15B2-7D9B3726A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A532D-D1D6-9FAF-0F36-08ADB5838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/>
              <a:t>INCENTIVES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801AE-391D-99C7-EA40-0C1EA86BC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Access to loans</a:t>
            </a:r>
          </a:p>
          <a:p>
            <a:r>
              <a:rPr lang="en-GB" dirty="0"/>
              <a:t>Insurance benefits</a:t>
            </a:r>
          </a:p>
          <a:p>
            <a:r>
              <a:rPr lang="en-GB" dirty="0"/>
              <a:t>Discounts on tools/services</a:t>
            </a:r>
          </a:p>
          <a:p>
            <a:r>
              <a:rPr lang="en-GB" dirty="0"/>
              <a:t>Encourages voluntary compliance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744480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A4306-6982-1C9D-E3BE-8BE539985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B134B-EE32-8908-7A56-4E581536F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/>
              <a:t>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072ED-B433-D2E7-5032-D8CA36D2D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Secure and reliable</a:t>
            </a:r>
          </a:p>
          <a:p>
            <a:r>
              <a:rPr lang="en-GB" dirty="0"/>
              <a:t>Easy to use (low literacy friendly)</a:t>
            </a:r>
          </a:p>
          <a:p>
            <a:r>
              <a:rPr lang="en-GB" dirty="0"/>
              <a:t>Works on basic mobile phones</a:t>
            </a:r>
          </a:p>
          <a:p>
            <a:r>
              <a:rPr lang="en-GB" dirty="0"/>
              <a:t>Fast and efficient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951745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DAD4D-04C3-435A-CEFB-B8BA08625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8BC5A-61DB-AC20-7FCA-3FD156D99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/>
              <a:t>ENTITY RELATIONAL DIAGRAM(REFER TO GITHUB)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B3CE6-B157-FDE7-0C02-00D117349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H" dirty="0"/>
              <a:t>ARTISAN</a:t>
            </a:r>
          </a:p>
          <a:p>
            <a:r>
              <a:rPr lang="en-GH" dirty="0"/>
              <a:t>TAXPAYER ACCONT</a:t>
            </a:r>
          </a:p>
          <a:p>
            <a:r>
              <a:rPr lang="en-GH" dirty="0"/>
              <a:t>TAXPAYMENT</a:t>
            </a:r>
          </a:p>
          <a:p>
            <a:r>
              <a:rPr lang="en-GH" dirty="0"/>
              <a:t>MOBILE PAYMENT PLATFORM</a:t>
            </a:r>
          </a:p>
          <a:p>
            <a:r>
              <a:rPr lang="en-GH" dirty="0"/>
              <a:t>TRADE ASSOCIATION</a:t>
            </a:r>
          </a:p>
          <a:p>
            <a:r>
              <a:rPr lang="en-GH" dirty="0"/>
              <a:t>INCENTIVE SCHEME</a:t>
            </a:r>
          </a:p>
          <a:p>
            <a:r>
              <a:rPr lang="en-GH" dirty="0"/>
              <a:t>GOVERNMENT AGENCY</a:t>
            </a:r>
          </a:p>
        </p:txBody>
      </p:sp>
    </p:spTree>
    <p:extLst>
      <p:ext uri="{BB962C8B-B14F-4D97-AF65-F5344CB8AC3E}">
        <p14:creationId xmlns:p14="http://schemas.microsoft.com/office/powerpoint/2010/main" val="1937382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EEFF5-ACC2-3F79-B8E1-54C5C678C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38DDC-3C83-44CE-E567-EAF621E85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/>
              <a:t>FLOWCHART(REFER TO GITHUB)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CD8AA-AC21-8DDD-5DA2-0E4499C23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645368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BFF20-3981-7147-EDDB-E3301B263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C6F8C-AF39-4AE4-5DDD-C73DC55BD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/>
              <a:t>CONCLUSON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442F5-59A1-ADC1-C319-23EF72A6A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Problem: Low tax participation among artisans</a:t>
            </a:r>
          </a:p>
          <a:p>
            <a:r>
              <a:rPr lang="en-GB" dirty="0"/>
              <a:t>Solution: Simple digital tax system</a:t>
            </a:r>
          </a:p>
          <a:p>
            <a:r>
              <a:rPr lang="en-GB" dirty="0"/>
              <a:t>Result: Efficient, inclusive, and sustainable tax collection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4863198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56</TotalTime>
  <Words>416</Words>
  <Application>Microsoft Office PowerPoint</Application>
  <PresentationFormat>Widescreen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Mesh</vt:lpstr>
      <vt:lpstr>GROUP 1</vt:lpstr>
      <vt:lpstr>GROUP MEMBERS</vt:lpstr>
      <vt:lpstr>BACKGROUND</vt:lpstr>
      <vt:lpstr>PROBLEM STATMENT</vt:lpstr>
      <vt:lpstr>SOLUTION OVERVIEW</vt:lpstr>
      <vt:lpstr>CORE FEATURES</vt:lpstr>
      <vt:lpstr>INCENTIVES</vt:lpstr>
      <vt:lpstr>SYSTEM REQUIREMENTS</vt:lpstr>
      <vt:lpstr>ENTITY RELATIONAL DIAGRAM(REFER TO GITHUB)</vt:lpstr>
      <vt:lpstr>FLOWCHART(REFER TO GITHUB)</vt:lpstr>
      <vt:lpstr>CONCLUSON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1</dc:title>
  <dc:creator>YAW ANING ABURAM</dc:creator>
  <cp:lastModifiedBy>User</cp:lastModifiedBy>
  <cp:revision>4</cp:revision>
  <dcterms:created xsi:type="dcterms:W3CDTF">2026-05-05T13:50:41Z</dcterms:created>
  <dcterms:modified xsi:type="dcterms:W3CDTF">2026-05-05T17:33:18Z</dcterms:modified>
</cp:coreProperties>
</file>